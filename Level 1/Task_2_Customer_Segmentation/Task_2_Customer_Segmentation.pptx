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45" d="100"/>
          <a:sy n="45" d="100"/>
        </p:scale>
        <p:origin x="53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fld id="{CC33FD58-92A4-49D4-9A38-8C7A31DF3864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895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E29E3-BEF8-4729-99AA-2ECCA94783C7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CC33FD58-92A4-49D4-9A38-8C7A31DF3864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742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726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E29E3-BEF8-4729-99AA-2ECCA94783C7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3FD58-92A4-49D4-9A38-8C7A31DF3864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2120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645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33FD58-92A4-49D4-9A38-8C7A31DF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310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C33FD58-92A4-49D4-9A38-8C7A31DF386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355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fld id="{8EDE29E3-BEF8-4729-99AA-2ECCA94783C7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C33FD58-92A4-49D4-9A38-8C7A31DF386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513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fld id="{8EDE29E3-BEF8-4729-99AA-2ECCA94783C7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C33FD58-92A4-49D4-9A38-8C7A31DF386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433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fld id="{CC33FD58-92A4-49D4-9A38-8C7A31DF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504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fld id="{8EDE29E3-BEF8-4729-99AA-2ECCA94783C7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fld id="{CC33FD58-92A4-49D4-9A38-8C7A31DF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7955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fld id="{8EDE29E3-BEF8-4729-99AA-2ECCA94783C7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fld id="{CC33FD58-92A4-49D4-9A38-8C7A31DF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1552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fld id="{CC33FD58-92A4-49D4-9A38-8C7A31DF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7351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fld id="{CC33FD58-92A4-49D4-9A38-8C7A31DF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082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fld id="{CC33FD58-92A4-49D4-9A38-8C7A31DF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9340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fld id="{8EDE29E3-BEF8-4729-99AA-2ECCA94783C7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fld id="{CC33FD58-92A4-49D4-9A38-8C7A31DF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324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fld id="{CC33FD58-92A4-49D4-9A38-8C7A31DF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912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fld id="{8EDE29E3-BEF8-4729-99AA-2ECCA94783C7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fld id="{CC33FD58-92A4-49D4-9A38-8C7A31DF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6851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33FD58-92A4-49D4-9A38-8C7A31DF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4739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EDE29E3-BEF8-4729-99AA-2ECCA94783C7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33FD58-92A4-49D4-9A38-8C7A31DF386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84413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C33FD58-92A4-49D4-9A38-8C7A31DF3864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7192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fld id="{8EDE29E3-BEF8-4729-99AA-2ECCA94783C7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3FD58-92A4-49D4-9A38-8C7A31DF386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2267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fld id="{8EDE29E3-BEF8-4729-99AA-2ECCA94783C7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3FD58-92A4-49D4-9A38-8C7A31DF3864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7325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E29E3-BEF8-4729-99AA-2ECCA94783C7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fld id="{CC33FD58-92A4-49D4-9A38-8C7A31DF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4292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fld id="{8EDE29E3-BEF8-4729-99AA-2ECCA94783C7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33FD58-92A4-49D4-9A38-8C7A31DF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2533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fld id="{8EDE29E3-BEF8-4729-99AA-2ECCA94783C7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fld id="{CC33FD58-92A4-49D4-9A38-8C7A31DF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1151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fld id="{8EDE29E3-BEF8-4729-99AA-2ECCA94783C7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fld id="{CC33FD58-92A4-49D4-9A38-8C7A31DF3864}" type="slidenum">
              <a:rPr lang="en-IN" smtClean="0"/>
              <a:t>‹#›</a:t>
            </a:fld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008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8EDE29E3-BEF8-4729-99AA-2ECCA94783C7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33FD58-92A4-49D4-9A38-8C7A31DF3864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511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4CAB2-1C0E-1ABE-6BE3-FF5B66F53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600" dirty="0"/>
              <a:t>Customer Segmentation Analysis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798EAB53-D195-83E6-F52D-82B8A5B22D5E}"/>
              </a:ext>
            </a:extLst>
          </p:cNvPr>
          <p:cNvSpPr txBox="1">
            <a:spLocks/>
          </p:cNvSpPr>
          <p:nvPr/>
        </p:nvSpPr>
        <p:spPr>
          <a:xfrm>
            <a:off x="367454" y="2117863"/>
            <a:ext cx="11045952" cy="32053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600" b="0" i="0" kern="1200" spc="-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spc="0" dirty="0"/>
              <a:t>Oasis Infobyte – Data Analytics Internship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8B799E8-E2D9-A172-68CF-9E4B59731BC3}"/>
              </a:ext>
            </a:extLst>
          </p:cNvPr>
          <p:cNvSpPr txBox="1">
            <a:spLocks/>
          </p:cNvSpPr>
          <p:nvPr/>
        </p:nvSpPr>
        <p:spPr>
          <a:xfrm>
            <a:off x="367454" y="2823242"/>
            <a:ext cx="11045952" cy="32053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600" b="0" i="0" kern="1200" spc="-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spc="0" dirty="0"/>
              <a:t>Level 1 – Task 2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CD6EAAB2-6413-9D6E-DE64-B14D9649C4BD}"/>
              </a:ext>
            </a:extLst>
          </p:cNvPr>
          <p:cNvSpPr txBox="1">
            <a:spLocks/>
          </p:cNvSpPr>
          <p:nvPr/>
        </p:nvSpPr>
        <p:spPr>
          <a:xfrm>
            <a:off x="367454" y="3714222"/>
            <a:ext cx="11045952" cy="32053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600" b="0" i="0" kern="1200" spc="-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spc="0" dirty="0"/>
              <a:t>Intern:- </a:t>
            </a:r>
            <a:r>
              <a:rPr lang="en-IN" sz="2000" b="1" i="1" spc="0" dirty="0"/>
              <a:t>Nandini Dolas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B597C3F6-B022-5FEB-D6BD-C179758CA3EF}"/>
              </a:ext>
            </a:extLst>
          </p:cNvPr>
          <p:cNvSpPr txBox="1">
            <a:spLocks/>
          </p:cNvSpPr>
          <p:nvPr/>
        </p:nvSpPr>
        <p:spPr>
          <a:xfrm>
            <a:off x="367454" y="4444933"/>
            <a:ext cx="11045952" cy="32053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600" b="0" i="0" kern="1200" spc="-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spc="0" dirty="0"/>
              <a:t>Tools:- </a:t>
            </a:r>
            <a:r>
              <a:rPr lang="en-IN" sz="2000" spc="0" dirty="0"/>
              <a:t>Python, Pandas, Matplotlib, Seaborn, Scikit- Learn</a:t>
            </a:r>
          </a:p>
        </p:txBody>
      </p:sp>
    </p:spTree>
    <p:extLst>
      <p:ext uri="{BB962C8B-B14F-4D97-AF65-F5344CB8AC3E}">
        <p14:creationId xmlns:p14="http://schemas.microsoft.com/office/powerpoint/2010/main" val="3291880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2E11A-EE6D-5F11-4DFC-6A01E5142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600" dirty="0"/>
              <a:t>Project Overview and Dataset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FD5A0244-E9F2-F24E-E091-2906D53807C4}"/>
              </a:ext>
            </a:extLst>
          </p:cNvPr>
          <p:cNvSpPr txBox="1">
            <a:spLocks/>
          </p:cNvSpPr>
          <p:nvPr/>
        </p:nvSpPr>
        <p:spPr>
          <a:xfrm>
            <a:off x="367454" y="1181553"/>
            <a:ext cx="11045952" cy="13658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600" b="0" i="0" kern="1200" spc="-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400" b="1" spc="0" dirty="0"/>
              <a:t>Objective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00" spc="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spc="0" dirty="0"/>
              <a:t>Identify customer groups based on annual income and spending </a:t>
            </a:r>
            <a:r>
              <a:rPr lang="en-IN" sz="2000" spc="0" dirty="0" err="1"/>
              <a:t>behavior</a:t>
            </a:r>
            <a:r>
              <a:rPr lang="en-IN" sz="2000" spc="0" dirty="0"/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spc="0" dirty="0"/>
              <a:t>Understand customer purchasing patterns.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spc="0" dirty="0"/>
              <a:t>Develop useful marketing recommendations.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C9F1DD0A-F664-07C9-5073-6D7C76FBF69D}"/>
              </a:ext>
            </a:extLst>
          </p:cNvPr>
          <p:cNvSpPr txBox="1">
            <a:spLocks/>
          </p:cNvSpPr>
          <p:nvPr/>
        </p:nvSpPr>
        <p:spPr>
          <a:xfrm>
            <a:off x="367454" y="3429000"/>
            <a:ext cx="11045952" cy="13658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600" b="0" i="0" kern="1200" spc="-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400" b="1" spc="0" dirty="0"/>
              <a:t>Dataset Overview</a:t>
            </a:r>
            <a:endParaRPr lang="en-IN" sz="2400" spc="0" dirty="0"/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00" spc="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spc="0" dirty="0"/>
              <a:t>Dataset: Mall_Customers.csv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spc="0" dirty="0"/>
              <a:t>Total Records: 200 customers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spc="0" dirty="0"/>
              <a:t>Total Columns: 5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endParaRPr lang="en-IN" sz="2000" spc="0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5FA6FE13-C399-96CA-A425-F5536A02CB26}"/>
              </a:ext>
            </a:extLst>
          </p:cNvPr>
          <p:cNvSpPr txBox="1">
            <a:spLocks/>
          </p:cNvSpPr>
          <p:nvPr/>
        </p:nvSpPr>
        <p:spPr>
          <a:xfrm>
            <a:off x="367454" y="5676447"/>
            <a:ext cx="11045952" cy="2874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600" b="0" i="0" kern="1200" spc="-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spc="0" dirty="0"/>
              <a:t>Features:</a:t>
            </a:r>
            <a:r>
              <a:rPr lang="en-IN" sz="2400" spc="0" dirty="0"/>
              <a:t> </a:t>
            </a:r>
            <a:r>
              <a:rPr lang="en-IN" sz="2000" spc="0" dirty="0"/>
              <a:t>Customer ID, Gender, Age, Annual Income, Spending Score</a:t>
            </a:r>
          </a:p>
          <a:p>
            <a:pPr lvl="0"/>
            <a:endParaRPr lang="en-IN" sz="2000" spc="0" dirty="0"/>
          </a:p>
        </p:txBody>
      </p:sp>
    </p:spTree>
    <p:extLst>
      <p:ext uri="{BB962C8B-B14F-4D97-AF65-F5344CB8AC3E}">
        <p14:creationId xmlns:p14="http://schemas.microsoft.com/office/powerpoint/2010/main" val="2717349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124DB-37B0-6BF1-5FB8-57C615146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663276"/>
          </a:xfrm>
        </p:spPr>
        <p:txBody>
          <a:bodyPr>
            <a:normAutofit/>
          </a:bodyPr>
          <a:lstStyle/>
          <a:p>
            <a:r>
              <a:rPr lang="en-IN" sz="4600" dirty="0"/>
              <a:t>Analysis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CB7B129-5BDC-8D49-355E-D39572D9AAE9}"/>
              </a:ext>
            </a:extLst>
          </p:cNvPr>
          <p:cNvSpPr txBox="1">
            <a:spLocks/>
          </p:cNvSpPr>
          <p:nvPr/>
        </p:nvSpPr>
        <p:spPr>
          <a:xfrm>
            <a:off x="400677" y="1410521"/>
            <a:ext cx="11045952" cy="44986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600" b="0" i="0" kern="1200" spc="-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b="1" spc="0" dirty="0"/>
              <a:t>Data Loading:</a:t>
            </a:r>
            <a:r>
              <a:rPr lang="en-IN" sz="2000" spc="0" dirty="0"/>
              <a:t> Imported the dataset using Pandas.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b="1" spc="0" dirty="0"/>
              <a:t>Data Exploration:</a:t>
            </a:r>
            <a:r>
              <a:rPr lang="en-IN" sz="2000" spc="0" dirty="0"/>
              <a:t> Examined data types, summary statistics, and distributions.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b="1" spc="0" dirty="0"/>
              <a:t>Data Visualization:</a:t>
            </a:r>
            <a:r>
              <a:rPr lang="en-IN" sz="2000" spc="0" dirty="0"/>
              <a:t> Created histograms and scatter plots.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b="1" spc="0" dirty="0"/>
              <a:t>Data Preprocessing:</a:t>
            </a:r>
            <a:r>
              <a:rPr lang="en-IN" sz="2000" spc="0" dirty="0"/>
              <a:t> Standardized annual income and spending score.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b="1" spc="0" dirty="0"/>
              <a:t>Optimal Clusters:</a:t>
            </a:r>
            <a:r>
              <a:rPr lang="en-IN" sz="2000" spc="0" dirty="0"/>
              <a:t> Used the Elbow Method to select the number of clusters.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b="1" spc="0" dirty="0"/>
              <a:t>Clustering:</a:t>
            </a:r>
            <a:r>
              <a:rPr lang="en-IN" sz="2000" spc="0" dirty="0"/>
              <a:t> Applied K-Means with 5 clusters.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b="1" spc="0" dirty="0"/>
              <a:t>Interpretation:</a:t>
            </a:r>
            <a:r>
              <a:rPr lang="en-IN" sz="2000" spc="0" dirty="0"/>
              <a:t> Examined cluster profiles and developed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057796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2A739-F42B-DD07-9185-534E045F0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682692"/>
          </a:xfrm>
        </p:spPr>
        <p:txBody>
          <a:bodyPr>
            <a:normAutofit/>
          </a:bodyPr>
          <a:lstStyle/>
          <a:p>
            <a:r>
              <a:rPr lang="en-IN" sz="4800" dirty="0"/>
              <a:t>Exploratory Data Analysis</a:t>
            </a:r>
            <a:endParaRPr lang="en-IN" sz="46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E16FD47-B79A-5D26-C017-0EBFA292E212}"/>
              </a:ext>
            </a:extLst>
          </p:cNvPr>
          <p:cNvSpPr txBox="1">
            <a:spLocks/>
          </p:cNvSpPr>
          <p:nvPr/>
        </p:nvSpPr>
        <p:spPr>
          <a:xfrm>
            <a:off x="502921" y="1327355"/>
            <a:ext cx="5536830" cy="21016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600" b="0" i="0" kern="1200" spc="-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000" b="1" spc="0" dirty="0"/>
              <a:t>Analysis Performed</a:t>
            </a:r>
            <a:endParaRPr lang="en-IN" sz="2000" spc="0" dirty="0"/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1800" spc="0" dirty="0"/>
              <a:t>Studied customer age distribution.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1800" spc="0" dirty="0"/>
              <a:t>Examined annual income distribution.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1800" spc="0" dirty="0" err="1"/>
              <a:t>Analyzed</a:t>
            </a:r>
            <a:r>
              <a:rPr lang="en-IN" sz="1800" spc="0" dirty="0"/>
              <a:t> spending score distribution.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1800" spc="0" dirty="0"/>
              <a:t>Compared annual income and spending score by gender.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49C848-25DA-88B6-6320-11B878A7DB1B}"/>
              </a:ext>
            </a:extLst>
          </p:cNvPr>
          <p:cNvSpPr txBox="1">
            <a:spLocks/>
          </p:cNvSpPr>
          <p:nvPr/>
        </p:nvSpPr>
        <p:spPr>
          <a:xfrm>
            <a:off x="502921" y="3725335"/>
            <a:ext cx="4678680" cy="248800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600" b="0" i="0" kern="1200" spc="-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000" b="1" spc="0" dirty="0"/>
              <a:t>Key Observation</a:t>
            </a:r>
            <a:endParaRPr lang="en-IN" sz="2000" spc="0" dirty="0"/>
          </a:p>
          <a:p>
            <a:pPr>
              <a:lnSpc>
                <a:spcPct val="150000"/>
              </a:lnSpc>
            </a:pPr>
            <a:r>
              <a:rPr lang="en-IN" sz="1800" spc="0" dirty="0"/>
              <a:t>Visualizations helped explore customer characteristics and identify patterns that could be useful for customer segmentation.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E41432-1E38-5344-1B1B-50A046C9E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2250" y="2010047"/>
            <a:ext cx="5734950" cy="380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751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D2192-A580-368D-E462-9488DEC37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86B02-22CB-CFC2-322F-490A116ED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800" b="1" dirty="0"/>
              <a:t>K-Means Customer Segmentation</a:t>
            </a:r>
            <a:br>
              <a:rPr lang="en-IN" sz="4800" b="1" dirty="0"/>
            </a:br>
            <a:endParaRPr lang="en-IN" sz="4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FBCF78-3EE8-027F-9B83-D91CC057A44E}"/>
              </a:ext>
            </a:extLst>
          </p:cNvPr>
          <p:cNvSpPr txBox="1">
            <a:spLocks/>
          </p:cNvSpPr>
          <p:nvPr/>
        </p:nvSpPr>
        <p:spPr>
          <a:xfrm>
            <a:off x="304678" y="1203067"/>
            <a:ext cx="6383989" cy="265197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600" b="0" i="0" kern="1200" spc="-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1800" b="1" spc="0" dirty="0"/>
              <a:t>Method Used: K-Means Clustering</a:t>
            </a:r>
            <a:endParaRPr lang="en-IN" sz="1800" spc="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spc="0" dirty="0"/>
              <a:t>Selected annual income and spending score as clustering features.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spc="0" dirty="0"/>
              <a:t>Standardized the selected features using </a:t>
            </a:r>
            <a:r>
              <a:rPr lang="en-IN" sz="1800" spc="0" dirty="0" err="1"/>
              <a:t>StandardScaler</a:t>
            </a:r>
            <a:r>
              <a:rPr lang="en-IN" sz="1800" spc="0" dirty="0"/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spc="0" dirty="0"/>
              <a:t>Used the Elbow Method to help choose the number of clusters.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spc="0" dirty="0"/>
              <a:t>Applied K-Means with 5 clusters.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spc="0" dirty="0"/>
              <a:t>Visualized the resulting customer groups.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spc="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D56913B-8942-BE57-9C96-9F3F2FB05ECC}"/>
              </a:ext>
            </a:extLst>
          </p:cNvPr>
          <p:cNvSpPr txBox="1">
            <a:spLocks/>
          </p:cNvSpPr>
          <p:nvPr/>
        </p:nvSpPr>
        <p:spPr>
          <a:xfrm>
            <a:off x="304678" y="5237691"/>
            <a:ext cx="7218680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600" b="0" i="0" kern="1200" spc="-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1800" b="1" spc="0" dirty="0"/>
              <a:t>Purpose:</a:t>
            </a:r>
            <a:r>
              <a:rPr lang="en-IN" sz="1800" spc="0" dirty="0"/>
              <a:t> Group customers with similar income and spending characteristics.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A40875-DF5F-DEF2-164F-8112C75F2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778" y="1315779"/>
            <a:ext cx="5429544" cy="392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702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C709E-3264-452F-E365-CCBA8E661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DB4EF-6D3F-DDD3-D77C-E34DD1FC5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Business Recommendations</a:t>
            </a:r>
            <a:endParaRPr lang="en-IN" sz="46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EC3A3F8-F54A-5977-6B8A-10779F8833F7}"/>
              </a:ext>
            </a:extLst>
          </p:cNvPr>
          <p:cNvSpPr txBox="1">
            <a:spLocks/>
          </p:cNvSpPr>
          <p:nvPr/>
        </p:nvSpPr>
        <p:spPr>
          <a:xfrm>
            <a:off x="502920" y="1310639"/>
            <a:ext cx="11186160" cy="49026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600" b="0" i="0" kern="1200" spc="-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spc="0" dirty="0"/>
              <a:t>High-Spending Customers: </a:t>
            </a:r>
            <a:r>
              <a:rPr lang="en-US" sz="2000" spc="0" dirty="0"/>
              <a:t>Think about loyalty programs and personal offers.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spc="0" dirty="0"/>
              <a:t>Prospective Growth Customers: </a:t>
            </a:r>
            <a:r>
              <a:rPr lang="en-US" sz="2000" spc="0" dirty="0"/>
              <a:t>Experiment with promotions and recommendations for products.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spc="0" dirty="0"/>
              <a:t>Low-Spending Customers</a:t>
            </a:r>
            <a:r>
              <a:rPr lang="en-US" sz="2000" spc="0" dirty="0"/>
              <a:t>: Investigate customers' requirements and preferences to find possible areas of work.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spc="0" dirty="0"/>
              <a:t>Marketing Campaigns: </a:t>
            </a:r>
            <a:r>
              <a:rPr lang="en-US" sz="2000" spc="0" dirty="0"/>
              <a:t>Create marketing campaigns tailored to the particularities of each segment.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spc="0" dirty="0"/>
              <a:t>Constant Observation: </a:t>
            </a:r>
            <a:r>
              <a:rPr lang="en-US" sz="2000" spc="0" dirty="0"/>
              <a:t>Analyze the behavior of customers to justify the segmentation.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spc="0" dirty="0"/>
          </a:p>
          <a:p>
            <a:pPr>
              <a:lnSpc>
                <a:spcPct val="150000"/>
              </a:lnSpc>
            </a:pPr>
            <a:r>
              <a:rPr lang="en-US" sz="2000" spc="0" dirty="0"/>
              <a:t>Please note that the recommendations must be related to the particularities of each segment.</a:t>
            </a:r>
            <a:endParaRPr lang="en-IN" sz="2000" spc="0" dirty="0"/>
          </a:p>
        </p:txBody>
      </p:sp>
    </p:spTree>
    <p:extLst>
      <p:ext uri="{BB962C8B-B14F-4D97-AF65-F5344CB8AC3E}">
        <p14:creationId xmlns:p14="http://schemas.microsoft.com/office/powerpoint/2010/main" val="30206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13AC7-7EA6-A45B-4E85-D009F8338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95134-CCEA-AABE-E914-E7229FBF3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659204"/>
          </a:xfrm>
        </p:spPr>
        <p:txBody>
          <a:bodyPr>
            <a:normAutofit fontScale="90000"/>
          </a:bodyPr>
          <a:lstStyle/>
          <a:p>
            <a:r>
              <a:rPr lang="en-IN" sz="4800" b="1" dirty="0"/>
              <a:t>Conclusion</a:t>
            </a:r>
            <a:br>
              <a:rPr lang="en-IN" sz="4800" b="1" dirty="0"/>
            </a:br>
            <a:endParaRPr lang="en-IN" sz="46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15ABD3B-4226-9349-B5D9-E49D34B04A60}"/>
              </a:ext>
            </a:extLst>
          </p:cNvPr>
          <p:cNvSpPr txBox="1">
            <a:spLocks/>
          </p:cNvSpPr>
          <p:nvPr/>
        </p:nvSpPr>
        <p:spPr>
          <a:xfrm>
            <a:off x="502920" y="1310639"/>
            <a:ext cx="11186160" cy="34137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600" b="0" i="0" kern="1200" spc="-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spc="0" dirty="0"/>
              <a:t>Explored customer demographics, annual income, and spending </a:t>
            </a:r>
            <a:r>
              <a:rPr lang="en-IN" sz="2000" spc="0" dirty="0" err="1"/>
              <a:t>behavior</a:t>
            </a:r>
            <a:r>
              <a:rPr lang="en-IN" sz="2000" spc="0" dirty="0"/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spc="0" dirty="0"/>
              <a:t>Used data visualization to understand customer patterns.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spc="0" dirty="0"/>
              <a:t>Applied K-Means clustering to create five customer groups.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spc="0" dirty="0"/>
              <a:t>Identified opportunities for more targeted marketing strategies.</a:t>
            </a:r>
          </a:p>
          <a:p>
            <a:pPr lvl="0">
              <a:lnSpc>
                <a:spcPct val="150000"/>
              </a:lnSpc>
            </a:pPr>
            <a:endParaRPr lang="en-IN" sz="2000" spc="0" dirty="0"/>
          </a:p>
          <a:p>
            <a:pPr>
              <a:lnSpc>
                <a:spcPct val="150000"/>
              </a:lnSpc>
            </a:pPr>
            <a:r>
              <a:rPr lang="en-IN" sz="2000" b="1" spc="0" dirty="0"/>
              <a:t>Conclusion:</a:t>
            </a:r>
            <a:r>
              <a:rPr lang="en-IN" sz="2000" spc="0" dirty="0"/>
              <a:t> Customer segmentation helps businesses better understand customer </a:t>
            </a:r>
            <a:r>
              <a:rPr lang="en-IN" sz="2000" spc="0" dirty="0" err="1"/>
              <a:t>behavior</a:t>
            </a:r>
            <a:r>
              <a:rPr lang="en-IN" sz="2000" spc="0" dirty="0"/>
              <a:t> and make informed marketing decisions.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AF1AEB-32F1-7C86-F4FB-A3F4C0DAC704}"/>
              </a:ext>
            </a:extLst>
          </p:cNvPr>
          <p:cNvSpPr txBox="1">
            <a:spLocks/>
          </p:cNvSpPr>
          <p:nvPr/>
        </p:nvSpPr>
        <p:spPr>
          <a:xfrm>
            <a:off x="502920" y="5067651"/>
            <a:ext cx="11045952" cy="47971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2500" lnSpcReduction="200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600" b="0" i="0" kern="1200" spc="-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800" b="1" dirty="0"/>
              <a:t>THANK YOU!</a:t>
            </a:r>
          </a:p>
          <a:p>
            <a:pPr algn="ctr"/>
            <a:endParaRPr lang="en-IN" sz="46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50CC9EA-EF44-4A7F-6C79-8171B7E89658}"/>
              </a:ext>
            </a:extLst>
          </p:cNvPr>
          <p:cNvSpPr txBox="1">
            <a:spLocks/>
          </p:cNvSpPr>
          <p:nvPr/>
        </p:nvSpPr>
        <p:spPr>
          <a:xfrm>
            <a:off x="626193" y="5531625"/>
            <a:ext cx="10245005" cy="47971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600" b="0" i="0" kern="1200" spc="-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IN" sz="2000" spc="0" dirty="0"/>
              <a:t>Oasis Infobyte — Data Analytics Internship</a:t>
            </a:r>
          </a:p>
          <a:p>
            <a:pPr marL="342900" lvl="0" indent="-34290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spc="0" dirty="0"/>
          </a:p>
        </p:txBody>
      </p:sp>
    </p:spTree>
    <p:extLst>
      <p:ext uri="{BB962C8B-B14F-4D97-AF65-F5344CB8AC3E}">
        <p14:creationId xmlns:p14="http://schemas.microsoft.com/office/powerpoint/2010/main" val="4263386539"/>
      </p:ext>
    </p:extLst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2A75EA04-0AE5-4074-9538-7DA6C138DAE9}" vid="{E39B6906-D52F-4B95-B43C-27F512CB47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33</TotalTime>
  <Words>415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Neue Haas Grotesk Text Pro</vt:lpstr>
      <vt:lpstr>Axis</vt:lpstr>
      <vt:lpstr>Customer Segmentation Analysis</vt:lpstr>
      <vt:lpstr>Project Overview and Dataset</vt:lpstr>
      <vt:lpstr>Analysis</vt:lpstr>
      <vt:lpstr>Exploratory Data Analysis</vt:lpstr>
      <vt:lpstr>K-Means Customer Segmentation </vt:lpstr>
      <vt:lpstr>Business Recommendations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D</dc:creator>
  <cp:lastModifiedBy>Nandini D</cp:lastModifiedBy>
  <cp:revision>1</cp:revision>
  <dcterms:created xsi:type="dcterms:W3CDTF">2026-10-21T16:29:48Z</dcterms:created>
  <dcterms:modified xsi:type="dcterms:W3CDTF">2026-10-21T17:03:24Z</dcterms:modified>
</cp:coreProperties>
</file>