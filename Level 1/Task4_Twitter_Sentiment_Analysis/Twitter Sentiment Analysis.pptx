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7" r:id="rId1"/>
  </p:sldMasterIdLst>
  <p:sldIdLst>
    <p:sldId id="256" r:id="rId2"/>
    <p:sldId id="257" r:id="rId3"/>
    <p:sldId id="258" r:id="rId4"/>
    <p:sldId id="259" r:id="rId5"/>
    <p:sldId id="262" r:id="rId6"/>
    <p:sldId id="260" r:id="rId7"/>
    <p:sldId id="261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C575A2E-DF11-48B1-AAC3-0F23B3CF5164}" v="58" dt="2026-10-25T09:42:58.62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sz="1862" b="0" i="0" u="none" strike="noStrike" baseline="0" dirty="0"/>
              <a:t>Two Accuracy Comparison </a:t>
            </a:r>
            <a:endParaRPr lang="en-IN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IN"/>
        </a:p>
      </c:txPr>
    </c:title>
    <c:autoTitleDeleted val="0"/>
    <c:plotArea>
      <c:layout>
        <c:manualLayout>
          <c:layoutTarget val="inner"/>
          <c:xMode val="edge"/>
          <c:yMode val="edge"/>
          <c:x val="0.14099349578372575"/>
          <c:y val="0.15949450904392765"/>
          <c:w val="0.85900649689627195"/>
          <c:h val="0.56989556705242717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Validation Accuracy</c:v>
                </c:pt>
              </c:strCache>
            </c:strRef>
          </c:tx>
          <c:spPr>
            <a:solidFill>
              <a:srgbClr val="0070C0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2"/>
                <c:pt idx="0">
                  <c:v>Multinmial Naive Bayes</c:v>
                </c:pt>
                <c:pt idx="1">
                  <c:v>Logistic Regression</c:v>
                </c:pt>
              </c:strCache>
            </c:strRef>
          </c:cat>
          <c:val>
            <c:numRef>
              <c:f>Sheet1!$B$2:$B$5</c:f>
              <c:numCache>
                <c:formatCode>0.00%</c:formatCode>
                <c:ptCount val="2"/>
                <c:pt idx="0">
                  <c:v>0.75900000000000001</c:v>
                </c:pt>
                <c:pt idx="1">
                  <c:v>0.86499999999999999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67F-4504-84B7-DAB8E5CFC44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2"/>
                <c:pt idx="0">
                  <c:v>Multinmial Naive Bayes</c:v>
                </c:pt>
                <c:pt idx="1">
                  <c:v>Logistic Regression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2"/>
              </c:numCache>
            </c:numRef>
          </c:val>
          <c:extLst>
            <c:ext xmlns:c16="http://schemas.microsoft.com/office/drawing/2014/chart" uri="{C3380CC4-5D6E-409C-BE32-E72D297353CC}">
              <c16:uniqueId val="{00000001-E67F-4504-84B7-DAB8E5CFC447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2"/>
                <c:pt idx="0">
                  <c:v>Multinmial Naive Bayes</c:v>
                </c:pt>
                <c:pt idx="1">
                  <c:v>Logistic Regression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2"/>
              </c:numCache>
            </c:numRef>
          </c:val>
          <c:extLst>
            <c:ext xmlns:c16="http://schemas.microsoft.com/office/drawing/2014/chart" uri="{C3380CC4-5D6E-409C-BE32-E72D297353CC}">
              <c16:uniqueId val="{00000002-E67F-4504-84B7-DAB8E5CFC44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581816895"/>
        <c:axId val="583564975"/>
      </c:barChart>
      <c:catAx>
        <c:axId val="58181689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83564975"/>
        <c:crosses val="autoZero"/>
        <c:auto val="1"/>
        <c:lblAlgn val="ctr"/>
        <c:lblOffset val="100"/>
        <c:noMultiLvlLbl val="0"/>
      </c:catAx>
      <c:valAx>
        <c:axId val="58356497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8181689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AA468-87EE-46F8-8EF7-275D818ECF0D}" type="datetimeFigureOut">
              <a:rPr lang="en-IN" smtClean="0"/>
              <a:t>25-10-2026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159DAE-70A7-4CA6-A5D9-CF7DA17A69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46418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AA468-87EE-46F8-8EF7-275D818ECF0D}" type="datetimeFigureOut">
              <a:rPr lang="en-IN" smtClean="0"/>
              <a:t>25-10-2026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159DAE-70A7-4CA6-A5D9-CF7DA17A69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60012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AA468-87EE-46F8-8EF7-275D818ECF0D}" type="datetimeFigureOut">
              <a:rPr lang="en-IN" smtClean="0"/>
              <a:t>25-10-2026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159DAE-70A7-4CA6-A5D9-CF7DA17A69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2981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AA468-87EE-46F8-8EF7-275D818ECF0D}" type="datetimeFigureOut">
              <a:rPr lang="en-IN" smtClean="0"/>
              <a:t>25-10-2026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159DAE-70A7-4CA6-A5D9-CF7DA17A69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14422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AA468-87EE-46F8-8EF7-275D818ECF0D}" type="datetimeFigureOut">
              <a:rPr lang="en-IN" smtClean="0"/>
              <a:t>25-10-2026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159DAE-70A7-4CA6-A5D9-CF7DA17A69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6443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AA468-87EE-46F8-8EF7-275D818ECF0D}" type="datetimeFigureOut">
              <a:rPr lang="en-IN" smtClean="0"/>
              <a:t>25-10-2026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159DAE-70A7-4CA6-A5D9-CF7DA17A69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4918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AA468-87EE-46F8-8EF7-275D818ECF0D}" type="datetimeFigureOut">
              <a:rPr lang="en-IN" smtClean="0"/>
              <a:t>25-10-2026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159DAE-70A7-4CA6-A5D9-CF7DA17A69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20062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AA468-87EE-46F8-8EF7-275D818ECF0D}" type="datetimeFigureOut">
              <a:rPr lang="en-IN" smtClean="0"/>
              <a:t>25-10-2026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159DAE-70A7-4CA6-A5D9-CF7DA17A69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45742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AA468-87EE-46F8-8EF7-275D818ECF0D}" type="datetimeFigureOut">
              <a:rPr lang="en-IN" smtClean="0"/>
              <a:t>25-10-2026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159DAE-70A7-4CA6-A5D9-CF7DA17A69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6570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AA468-87EE-46F8-8EF7-275D818ECF0D}" type="datetimeFigureOut">
              <a:rPr lang="en-IN" smtClean="0"/>
              <a:t>25-10-2026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159DAE-70A7-4CA6-A5D9-CF7DA17A69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74659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AA468-87EE-46F8-8EF7-275D818ECF0D}" type="datetimeFigureOut">
              <a:rPr lang="en-IN" smtClean="0"/>
              <a:t>25-10-2026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159DAE-70A7-4CA6-A5D9-CF7DA17A69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59764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9AA468-87EE-46F8-8EF7-275D818ECF0D}" type="datetimeFigureOut">
              <a:rPr lang="en-IN" smtClean="0"/>
              <a:t>25-10-2026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159DAE-70A7-4CA6-A5D9-CF7DA17A69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97289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721" r:id="rId4"/>
    <p:sldLayoutId id="2147483722" r:id="rId5"/>
    <p:sldLayoutId id="2147483723" r:id="rId6"/>
    <p:sldLayoutId id="2147483724" r:id="rId7"/>
    <p:sldLayoutId id="2147483725" r:id="rId8"/>
    <p:sldLayoutId id="2147483726" r:id="rId9"/>
    <p:sldLayoutId id="2147483727" r:id="rId10"/>
    <p:sldLayoutId id="214748372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113850A-99B6-5D70-3B31-9AD572DC64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97304"/>
            <a:ext cx="10515600" cy="2679033"/>
          </a:xfrm>
        </p:spPr>
        <p:txBody>
          <a:bodyPr>
            <a:normAutofit/>
          </a:bodyPr>
          <a:lstStyle/>
          <a:p>
            <a:pPr algn="ctr"/>
            <a:r>
              <a:rPr lang="en-IN" b="1" dirty="0">
                <a:solidFill>
                  <a:schemeClr val="accent5">
                    <a:lumMod val="75000"/>
                  </a:schemeClr>
                </a:solidFill>
              </a:rPr>
              <a:t>Twitter Sentiment Analysis</a:t>
            </a:r>
            <a:br>
              <a:rPr lang="en-IN" b="1" dirty="0"/>
            </a:br>
            <a:r>
              <a:rPr lang="en-IN" sz="3600" b="1" dirty="0"/>
              <a:t>Oasis </a:t>
            </a:r>
            <a:r>
              <a:rPr lang="en-IN" sz="3600" b="1" dirty="0" err="1"/>
              <a:t>Infobyte</a:t>
            </a:r>
            <a:r>
              <a:rPr lang="en-IN" sz="3600" b="1" dirty="0"/>
              <a:t> — Data Analytics Internship</a:t>
            </a:r>
            <a:br>
              <a:rPr lang="en-IN" dirty="0"/>
            </a:br>
            <a:br>
              <a:rPr lang="en-IN" dirty="0"/>
            </a:br>
            <a:endParaRPr lang="en-IN" dirty="0"/>
          </a:p>
        </p:txBody>
      </p:sp>
      <p:sp>
        <p:nvSpPr>
          <p:cNvPr id="5" name="Title 3">
            <a:extLst>
              <a:ext uri="{FF2B5EF4-FFF2-40B4-BE49-F238E27FC236}">
                <a16:creationId xmlns:a16="http://schemas.microsoft.com/office/drawing/2014/main" id="{458295ED-005C-663C-6422-6816186A6E8C}"/>
              </a:ext>
            </a:extLst>
          </p:cNvPr>
          <p:cNvSpPr txBox="1">
            <a:spLocks/>
          </p:cNvSpPr>
          <p:nvPr/>
        </p:nvSpPr>
        <p:spPr>
          <a:xfrm>
            <a:off x="838200" y="3304672"/>
            <a:ext cx="10515600" cy="118711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2800" dirty="0"/>
              <a:t>Task 4: Sentiment Analysis</a:t>
            </a:r>
          </a:p>
          <a:p>
            <a:endParaRPr lang="en-IN" dirty="0"/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9B3E4CF0-D2D8-0F25-7BC4-3A83E91CA188}"/>
              </a:ext>
            </a:extLst>
          </p:cNvPr>
          <p:cNvSpPr txBox="1">
            <a:spLocks/>
          </p:cNvSpPr>
          <p:nvPr/>
        </p:nvSpPr>
        <p:spPr>
          <a:xfrm>
            <a:off x="838200" y="4491790"/>
            <a:ext cx="10515600" cy="118711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2800" dirty="0"/>
              <a:t>Presented by: </a:t>
            </a:r>
            <a:r>
              <a:rPr lang="en-IN" sz="2800" b="1" dirty="0"/>
              <a:t>Nandini Dolas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619940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DAEFDD-BEDD-E14C-3E96-1CBC9B7895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5830" y="183438"/>
            <a:ext cx="10515600" cy="1325563"/>
          </a:xfrm>
        </p:spPr>
        <p:txBody>
          <a:bodyPr>
            <a:normAutofit/>
          </a:bodyPr>
          <a:lstStyle/>
          <a:p>
            <a:r>
              <a:rPr lang="en-IN" b="1" dirty="0">
                <a:solidFill>
                  <a:schemeClr val="accent5">
                    <a:lumMod val="75000"/>
                  </a:schemeClr>
                </a:solidFill>
              </a:rPr>
              <a:t>Objective &amp; Dataset</a:t>
            </a:r>
            <a:br>
              <a:rPr lang="en-IN" b="1" dirty="0">
                <a:solidFill>
                  <a:schemeClr val="accent5">
                    <a:lumMod val="75000"/>
                  </a:schemeClr>
                </a:solidFill>
              </a:rPr>
            </a:br>
            <a:endParaRPr lang="en-IN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4BABF0B4-233E-C380-5D7D-2ADA2A90CB64}"/>
              </a:ext>
            </a:extLst>
          </p:cNvPr>
          <p:cNvSpPr txBox="1">
            <a:spLocks/>
          </p:cNvSpPr>
          <p:nvPr/>
        </p:nvSpPr>
        <p:spPr>
          <a:xfrm>
            <a:off x="838200" y="102790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400" b="1" dirty="0"/>
              <a:t>Objective</a:t>
            </a:r>
            <a:endParaRPr lang="en-IN" sz="2400" dirty="0"/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en-IN" sz="2400" dirty="0" err="1"/>
              <a:t>Analyze</a:t>
            </a:r>
            <a:r>
              <a:rPr lang="en-IN" sz="2400" dirty="0"/>
              <a:t> tweets to understand the sentiment expressed.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en-IN" sz="2400" dirty="0"/>
              <a:t>Build machine-learning models to classify text sentiment.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en-IN" sz="2400" dirty="0"/>
              <a:t>Compare model performance using evaluation metrics.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4408061-3757-79C0-045A-F71F029E1677}"/>
              </a:ext>
            </a:extLst>
          </p:cNvPr>
          <p:cNvSpPr txBox="1">
            <a:spLocks/>
          </p:cNvSpPr>
          <p:nvPr/>
        </p:nvSpPr>
        <p:spPr>
          <a:xfrm>
            <a:off x="838200" y="2353469"/>
            <a:ext cx="10515600" cy="227100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400" b="1" dirty="0"/>
              <a:t>Dataset</a:t>
            </a:r>
            <a:endParaRPr lang="en-IN" sz="2400" dirty="0"/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2400" dirty="0"/>
              <a:t>Dataset: Twitter Entity Sentiment Analysis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2400" dirty="0"/>
              <a:t>Training records: 74,682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2400" dirty="0"/>
              <a:t>Validation records: 1,000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2400" dirty="0"/>
              <a:t>Sentiment categories: Positive, Negative, Neutral, and Irrelevant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9CEDAC84-CCFC-6BC0-5C4B-666B7EC30537}"/>
              </a:ext>
            </a:extLst>
          </p:cNvPr>
          <p:cNvSpPr txBox="1">
            <a:spLocks/>
          </p:cNvSpPr>
          <p:nvPr/>
        </p:nvSpPr>
        <p:spPr>
          <a:xfrm>
            <a:off x="838200" y="4674184"/>
            <a:ext cx="10515600" cy="67481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400" b="1" dirty="0"/>
              <a:t>Tools Used:</a:t>
            </a:r>
            <a:r>
              <a:rPr lang="en-IN" sz="2400" dirty="0"/>
              <a:t> Python, Pandas, NLTK, Scikit-learn, Matplotlib, and Seaborn</a:t>
            </a:r>
          </a:p>
        </p:txBody>
      </p:sp>
    </p:spTree>
    <p:extLst>
      <p:ext uri="{BB962C8B-B14F-4D97-AF65-F5344CB8AC3E}">
        <p14:creationId xmlns:p14="http://schemas.microsoft.com/office/powerpoint/2010/main" val="23098279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AB4E1F-6B7E-6FE3-E917-FC7052A51C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365" y="98511"/>
            <a:ext cx="10515600" cy="1325563"/>
          </a:xfrm>
        </p:spPr>
        <p:txBody>
          <a:bodyPr>
            <a:normAutofit/>
          </a:bodyPr>
          <a:lstStyle/>
          <a:p>
            <a:r>
              <a:rPr lang="en-IN" dirty="0">
                <a:solidFill>
                  <a:schemeClr val="accent5">
                    <a:lumMod val="75000"/>
                  </a:schemeClr>
                </a:solidFill>
              </a:rPr>
              <a:t>Data Preprocessing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C80F625D-93DB-F221-39E0-BE5230F3F435}"/>
              </a:ext>
            </a:extLst>
          </p:cNvPr>
          <p:cNvSpPr txBox="1">
            <a:spLocks/>
          </p:cNvSpPr>
          <p:nvPr/>
        </p:nvSpPr>
        <p:spPr>
          <a:xfrm>
            <a:off x="838200" y="1104106"/>
            <a:ext cx="10515600" cy="27889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400" b="1" dirty="0"/>
              <a:t>Steps performed:</a:t>
            </a:r>
            <a:endParaRPr lang="en-IN" sz="2400" dirty="0"/>
          </a:p>
          <a:p>
            <a:pPr marL="457200" lvl="0" indent="-457200">
              <a:buFont typeface="+mj-lt"/>
              <a:buAutoNum type="arabicPeriod"/>
            </a:pPr>
            <a:r>
              <a:rPr lang="en-IN" sz="2400" dirty="0"/>
              <a:t>Converted text to lowercase.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sz="2400" dirty="0"/>
              <a:t>Removed URLs and user mentions.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sz="2400" dirty="0"/>
              <a:t>Removed punctuation and special characters.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sz="2400" dirty="0"/>
              <a:t>Removed common </a:t>
            </a:r>
            <a:r>
              <a:rPr lang="en-IN" sz="2400" dirty="0" err="1"/>
              <a:t>stopwords</a:t>
            </a:r>
            <a:r>
              <a:rPr lang="en-IN" sz="2400" dirty="0"/>
              <a:t> while preserving important words such as “not” and “no”.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sz="2400" dirty="0"/>
              <a:t>Converted the cleaned text into numerical features using </a:t>
            </a:r>
            <a:r>
              <a:rPr lang="en-IN" sz="2400" b="1" dirty="0"/>
              <a:t>TF-IDF</a:t>
            </a:r>
            <a:r>
              <a:rPr lang="en-IN" sz="2400" dirty="0"/>
              <a:t>.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B2120C8-0787-04F6-EA8B-E801265A285F}"/>
              </a:ext>
            </a:extLst>
          </p:cNvPr>
          <p:cNvSpPr txBox="1">
            <a:spLocks/>
          </p:cNvSpPr>
          <p:nvPr/>
        </p:nvSpPr>
        <p:spPr>
          <a:xfrm>
            <a:off x="838200" y="3942318"/>
            <a:ext cx="10515600" cy="118189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400" b="1" dirty="0"/>
              <a:t>What is TF-IDF?</a:t>
            </a:r>
            <a:endParaRPr lang="en-IN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TF-IDF converts text into numerical values so machine-learning models can process tweets and identify informative words.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913531-07D0-FB87-E8D9-62AA7FA4A7FA}"/>
              </a:ext>
            </a:extLst>
          </p:cNvPr>
          <p:cNvSpPr txBox="1"/>
          <p:nvPr/>
        </p:nvSpPr>
        <p:spPr>
          <a:xfrm>
            <a:off x="502917" y="5569228"/>
            <a:ext cx="1493520" cy="83099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2400" dirty="0"/>
              <a:t>Raw Tweets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02F7417-B76A-E668-B3D1-830CFFB02891}"/>
              </a:ext>
            </a:extLst>
          </p:cNvPr>
          <p:cNvSpPr txBox="1"/>
          <p:nvPr/>
        </p:nvSpPr>
        <p:spPr>
          <a:xfrm>
            <a:off x="2804161" y="5593080"/>
            <a:ext cx="1661157" cy="83099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2400" dirty="0"/>
              <a:t>Text Cleaning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C269066-02DC-F0FD-4FFD-A3185DD798F8}"/>
              </a:ext>
            </a:extLst>
          </p:cNvPr>
          <p:cNvSpPr txBox="1"/>
          <p:nvPr/>
        </p:nvSpPr>
        <p:spPr>
          <a:xfrm>
            <a:off x="5238137" y="5569228"/>
            <a:ext cx="1996440" cy="83099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2400" dirty="0" err="1"/>
              <a:t>Stopword</a:t>
            </a:r>
            <a:r>
              <a:rPr lang="en-IN" sz="2400" dirty="0"/>
              <a:t> Removal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46F91C1-DB6D-248D-EBF3-F354EEE6785B}"/>
              </a:ext>
            </a:extLst>
          </p:cNvPr>
          <p:cNvSpPr txBox="1"/>
          <p:nvPr/>
        </p:nvSpPr>
        <p:spPr>
          <a:xfrm>
            <a:off x="8064173" y="5557921"/>
            <a:ext cx="1149394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2400" dirty="0"/>
              <a:t>TF-IDF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ACF79E1-9312-AA7E-33E7-77DED37CD60E}"/>
              </a:ext>
            </a:extLst>
          </p:cNvPr>
          <p:cNvSpPr txBox="1"/>
          <p:nvPr/>
        </p:nvSpPr>
        <p:spPr>
          <a:xfrm>
            <a:off x="10002847" y="5557921"/>
            <a:ext cx="1686236" cy="83099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2400" dirty="0"/>
              <a:t>Model Training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D74EC65-23AD-751E-337F-72AED0CF22FC}"/>
              </a:ext>
            </a:extLst>
          </p:cNvPr>
          <p:cNvCxnSpPr>
            <a:cxnSpLocks/>
          </p:cNvCxnSpPr>
          <p:nvPr/>
        </p:nvCxnSpPr>
        <p:spPr>
          <a:xfrm>
            <a:off x="2052320" y="5753894"/>
            <a:ext cx="662940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581AF45E-245C-F0FE-32D9-0ABF9A001BBF}"/>
              </a:ext>
            </a:extLst>
          </p:cNvPr>
          <p:cNvCxnSpPr>
            <a:cxnSpLocks/>
          </p:cNvCxnSpPr>
          <p:nvPr/>
        </p:nvCxnSpPr>
        <p:spPr>
          <a:xfrm>
            <a:off x="4531360" y="5762947"/>
            <a:ext cx="622300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44016376-B59F-3D70-3A96-81EEF7D4E776}"/>
              </a:ext>
            </a:extLst>
          </p:cNvPr>
          <p:cNvCxnSpPr>
            <a:cxnSpLocks/>
          </p:cNvCxnSpPr>
          <p:nvPr/>
        </p:nvCxnSpPr>
        <p:spPr>
          <a:xfrm>
            <a:off x="7284720" y="5753894"/>
            <a:ext cx="728980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B16F25B3-8230-3DC5-E7D3-6C0B66B652FB}"/>
              </a:ext>
            </a:extLst>
          </p:cNvPr>
          <p:cNvCxnSpPr>
            <a:cxnSpLocks/>
          </p:cNvCxnSpPr>
          <p:nvPr/>
        </p:nvCxnSpPr>
        <p:spPr>
          <a:xfrm>
            <a:off x="9255760" y="5742587"/>
            <a:ext cx="668020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8805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5BF623-C70A-F012-5833-09A95AFFBB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643" y="468681"/>
            <a:ext cx="10515600" cy="577516"/>
          </a:xfrm>
        </p:spPr>
        <p:txBody>
          <a:bodyPr>
            <a:noAutofit/>
          </a:bodyPr>
          <a:lstStyle/>
          <a:p>
            <a:r>
              <a:rPr lang="en-IN" b="1" dirty="0">
                <a:solidFill>
                  <a:schemeClr val="accent5">
                    <a:lumMod val="75000"/>
                  </a:schemeClr>
                </a:solidFill>
              </a:rPr>
              <a:t>Sentiment Distribution &amp; Word Analysis</a:t>
            </a:r>
            <a:br>
              <a:rPr lang="en-IN" b="1" dirty="0">
                <a:solidFill>
                  <a:schemeClr val="accent5">
                    <a:lumMod val="75000"/>
                  </a:schemeClr>
                </a:solidFill>
              </a:rPr>
            </a:br>
            <a:endParaRPr lang="en-IN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2C4DD2E5-57DF-0790-755D-0C81C68A587A}"/>
              </a:ext>
            </a:extLst>
          </p:cNvPr>
          <p:cNvSpPr txBox="1">
            <a:spLocks/>
          </p:cNvSpPr>
          <p:nvPr/>
        </p:nvSpPr>
        <p:spPr>
          <a:xfrm>
            <a:off x="312950" y="817394"/>
            <a:ext cx="4170560" cy="176847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400" b="1" dirty="0"/>
              <a:t>Sentiment Distribution</a:t>
            </a:r>
            <a:endParaRPr lang="en-IN" sz="2400" dirty="0"/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en-IN" sz="2400" dirty="0"/>
              <a:t>Negative: 22,542 tweets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en-IN" sz="2400" dirty="0"/>
              <a:t>Positive: 20,832 tweets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en-IN" sz="2400" dirty="0"/>
              <a:t>Neutral: 18,318 tweets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en-IN" sz="2400" dirty="0"/>
              <a:t>Irrelevant: 12,990 tweets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F0B1DC0-D4C1-6DA8-C0EA-BC16F6436625}"/>
              </a:ext>
            </a:extLst>
          </p:cNvPr>
          <p:cNvSpPr txBox="1">
            <a:spLocks/>
          </p:cNvSpPr>
          <p:nvPr/>
        </p:nvSpPr>
        <p:spPr>
          <a:xfrm>
            <a:off x="186643" y="3151731"/>
            <a:ext cx="5520299" cy="176847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400" b="1" dirty="0"/>
              <a:t>Word-Frequency Analysis</a:t>
            </a:r>
            <a:endParaRPr lang="en-IN" sz="2400" dirty="0"/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2400" dirty="0"/>
              <a:t>Identified the most frequent words in each sentiment category.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2400" dirty="0"/>
              <a:t>Compared common words across Positive, Negative, Neutral, and Irrelevant tweets.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2400" dirty="0"/>
              <a:t>Used bar charts to visualize word frequencies.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F0747D45-B7A8-0B1E-5995-B76E998C3826}"/>
              </a:ext>
            </a:extLst>
          </p:cNvPr>
          <p:cNvSpPr txBox="1">
            <a:spLocks/>
          </p:cNvSpPr>
          <p:nvPr/>
        </p:nvSpPr>
        <p:spPr>
          <a:xfrm>
            <a:off x="186643" y="5486068"/>
            <a:ext cx="10515600" cy="9448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400" b="1" dirty="0"/>
              <a:t>Key Observation:</a:t>
            </a:r>
            <a:r>
              <a:rPr lang="en-IN" sz="2400" dirty="0"/>
              <a:t> Negative tweets formed the largest category in the training dataset.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5221E16-9281-9144-F814-643CCABC9D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4443" y="1000622"/>
            <a:ext cx="6440309" cy="4121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97317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87FE16-A71C-3C8A-A5D2-648A290866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1637" y="703647"/>
            <a:ext cx="10515600" cy="853440"/>
          </a:xfrm>
        </p:spPr>
        <p:txBody>
          <a:bodyPr>
            <a:normAutofit fontScale="90000"/>
          </a:bodyPr>
          <a:lstStyle/>
          <a:p>
            <a:r>
              <a:rPr lang="en-IN" sz="4900" b="1" dirty="0">
                <a:solidFill>
                  <a:schemeClr val="accent5">
                    <a:lumMod val="75000"/>
                  </a:schemeClr>
                </a:solidFill>
              </a:rPr>
              <a:t>Model Performance</a:t>
            </a:r>
            <a:br>
              <a:rPr lang="en-IN" b="1" dirty="0">
                <a:solidFill>
                  <a:schemeClr val="accent5">
                    <a:lumMod val="75000"/>
                  </a:schemeClr>
                </a:solidFill>
              </a:rPr>
            </a:br>
            <a:r>
              <a:rPr lang="en-IN" sz="2700" dirty="0"/>
              <a:t>Two machine-learning models were trained and evaluated.</a:t>
            </a:r>
            <a:br>
              <a:rPr lang="en-IN" dirty="0"/>
            </a:br>
            <a:br>
              <a:rPr lang="en-IN" b="1" dirty="0"/>
            </a:br>
            <a:endParaRPr lang="en-IN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6AE138F-C779-B66D-FE00-0D8EDF81E712}"/>
              </a:ext>
            </a:extLst>
          </p:cNvPr>
          <p:cNvSpPr txBox="1">
            <a:spLocks/>
          </p:cNvSpPr>
          <p:nvPr/>
        </p:nvSpPr>
        <p:spPr>
          <a:xfrm>
            <a:off x="201637" y="805209"/>
            <a:ext cx="5894363" cy="578240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400" b="1" dirty="0"/>
              <a:t>Best Performing Model:</a:t>
            </a:r>
            <a:r>
              <a:rPr lang="en-IN" sz="2400" dirty="0"/>
              <a:t> Logistic Regression</a:t>
            </a:r>
          </a:p>
          <a:p>
            <a:endParaRPr lang="en-IN" sz="2400" dirty="0"/>
          </a:p>
          <a:p>
            <a:r>
              <a:rPr lang="en-IN" sz="2400" b="1" dirty="0"/>
              <a:t>Key Findings</a:t>
            </a:r>
            <a:endParaRPr lang="en-IN" sz="2400" dirty="0"/>
          </a:p>
          <a:p>
            <a:pPr lvl="0"/>
            <a:r>
              <a:rPr lang="en-IN" sz="2400" dirty="0"/>
              <a:t>Logistic Regression achieved higher accuracy than Naive Bayes.</a:t>
            </a:r>
          </a:p>
          <a:p>
            <a:pPr lvl="0"/>
            <a:r>
              <a:rPr lang="en-IN" sz="2400" dirty="0"/>
              <a:t>It performed 10.6 percentage points better on the validation dataset.</a:t>
            </a:r>
          </a:p>
          <a:p>
            <a:pPr lvl="0"/>
            <a:r>
              <a:rPr lang="en-IN" sz="2400" dirty="0"/>
              <a:t>Both models were evaluated using classification reports and confusion matrices.</a:t>
            </a:r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BF59A2D8-2AC7-7F53-C3FF-BE28B0DC5BD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22818738"/>
              </p:ext>
            </p:extLst>
          </p:nvPr>
        </p:nvGraphicFramePr>
        <p:xfrm>
          <a:off x="6027174" y="2148410"/>
          <a:ext cx="5771536" cy="309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8600374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20A50B-C640-D7D6-9D2E-653EF03EA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510" y="-27354"/>
            <a:ext cx="10515600" cy="1325563"/>
          </a:xfrm>
        </p:spPr>
        <p:txBody>
          <a:bodyPr/>
          <a:lstStyle/>
          <a:p>
            <a:r>
              <a:rPr lang="en-IN" b="1" dirty="0">
                <a:solidFill>
                  <a:schemeClr val="accent5">
                    <a:lumMod val="75000"/>
                  </a:schemeClr>
                </a:solidFill>
              </a:rPr>
              <a:t>Confusion Matrix &amp; Error Analysis</a:t>
            </a:r>
            <a:endParaRPr lang="en-IN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6E653ACA-DD8F-79ED-9597-60457D9891BC}"/>
              </a:ext>
            </a:extLst>
          </p:cNvPr>
          <p:cNvSpPr txBox="1">
            <a:spLocks/>
          </p:cNvSpPr>
          <p:nvPr/>
        </p:nvSpPr>
        <p:spPr>
          <a:xfrm>
            <a:off x="187514" y="1516755"/>
            <a:ext cx="5387366" cy="198331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400" b="1" dirty="0"/>
              <a:t>Confusion Matrix</a:t>
            </a:r>
            <a:endParaRPr lang="en-IN" sz="2400" dirty="0"/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en-IN" sz="2400" dirty="0"/>
              <a:t>Used to compare actual sentiment labels with model predictions.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en-IN" sz="2400" dirty="0"/>
              <a:t>Helped identify which sentiment categories were classified correctly or incorrectly.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en-IN" sz="2400" dirty="0"/>
              <a:t>Confusion matrices were generated for both Naive Bayes and Logistic Regression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9A811BD-E1EF-D9EA-AC4A-E022E9EECCAB}"/>
              </a:ext>
            </a:extLst>
          </p:cNvPr>
          <p:cNvSpPr txBox="1">
            <a:spLocks/>
          </p:cNvSpPr>
          <p:nvPr/>
        </p:nvSpPr>
        <p:spPr>
          <a:xfrm>
            <a:off x="187514" y="4065612"/>
            <a:ext cx="5658852" cy="163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400" b="1" dirty="0"/>
              <a:t>Possible reasons for incorrect predictions:</a:t>
            </a:r>
            <a:endParaRPr lang="en-IN" sz="24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Sarcasm and ambiguous expressions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Slang and spelling variations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Limited context in short tweets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A7747A3D-BEAE-F98F-EA96-7A4F0C5241C0}"/>
              </a:ext>
            </a:extLst>
          </p:cNvPr>
          <p:cNvSpPr txBox="1">
            <a:spLocks/>
          </p:cNvSpPr>
          <p:nvPr/>
        </p:nvSpPr>
        <p:spPr>
          <a:xfrm>
            <a:off x="187514" y="5748062"/>
            <a:ext cx="10515600" cy="69792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400" b="1" dirty="0"/>
              <a:t>Key Insight:</a:t>
            </a:r>
            <a:r>
              <a:rPr lang="en-IN" sz="2400" dirty="0"/>
              <a:t> Social media language can be challenging for machine-learning models to interpret accurately.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C1C1738-4DDF-CB1E-F665-FDFE855E647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1" r="55748"/>
          <a:stretch>
            <a:fillRect/>
          </a:stretch>
        </p:blipFill>
        <p:spPr>
          <a:xfrm>
            <a:off x="5666665" y="970521"/>
            <a:ext cx="2900516" cy="281232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695DC0C-19FF-A427-B799-2450A1DAC5B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7941" t="-354" r="-2194" b="354"/>
          <a:stretch>
            <a:fillRect/>
          </a:stretch>
        </p:blipFill>
        <p:spPr>
          <a:xfrm>
            <a:off x="8658966" y="2659450"/>
            <a:ext cx="2900516" cy="2812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50673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2DB00A-1C13-5016-82C8-6495A0D785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155440"/>
            <a:ext cx="10515600" cy="2184400"/>
          </a:xfrm>
        </p:spPr>
        <p:txBody>
          <a:bodyPr>
            <a:noAutofit/>
          </a:bodyPr>
          <a:lstStyle/>
          <a:p>
            <a:pPr algn="ctr">
              <a:lnSpc>
                <a:spcPct val="150000"/>
              </a:lnSpc>
            </a:pPr>
            <a:br>
              <a:rPr lang="en-IN" sz="2400" b="1" dirty="0"/>
            </a:br>
            <a:br>
              <a:rPr lang="en-IN" sz="2400" dirty="0"/>
            </a:br>
            <a:r>
              <a:rPr lang="en-IN" sz="3600" b="1" dirty="0"/>
              <a:t>Thank You!</a:t>
            </a:r>
            <a:br>
              <a:rPr lang="en-IN" sz="2400" b="1" dirty="0"/>
            </a:br>
            <a:r>
              <a:rPr lang="en-IN" sz="2400" b="1" u="sng" dirty="0"/>
              <a:t>Oasis </a:t>
            </a:r>
            <a:r>
              <a:rPr lang="en-IN" sz="2400" b="1" u="sng" dirty="0" err="1"/>
              <a:t>Infobyte</a:t>
            </a:r>
            <a:r>
              <a:rPr lang="en-IN" sz="2400" b="1" u="sng" dirty="0"/>
              <a:t> — Data Analytics Internship</a:t>
            </a:r>
            <a:br>
              <a:rPr lang="en-IN" sz="2400" dirty="0"/>
            </a:br>
            <a:r>
              <a:rPr lang="en-IN" sz="2400" dirty="0"/>
              <a:t>Task 4: Twitter Sentiment Analysis</a:t>
            </a:r>
            <a:br>
              <a:rPr lang="en-IN" sz="2400" dirty="0"/>
            </a:br>
            <a:br>
              <a:rPr lang="en-IN" sz="2400" dirty="0"/>
            </a:br>
            <a:endParaRPr lang="en-IN" sz="2400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FA27E7CB-51D7-6264-2172-03EE77394152}"/>
              </a:ext>
            </a:extLst>
          </p:cNvPr>
          <p:cNvSpPr txBox="1">
            <a:spLocks/>
          </p:cNvSpPr>
          <p:nvPr/>
        </p:nvSpPr>
        <p:spPr>
          <a:xfrm>
            <a:off x="401320" y="439578"/>
            <a:ext cx="10515600" cy="762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4000" b="1" dirty="0">
                <a:solidFill>
                  <a:schemeClr val="accent5">
                    <a:lumMod val="75000"/>
                  </a:schemeClr>
                </a:solidFill>
              </a:rPr>
              <a:t>Conclusion</a:t>
            </a:r>
            <a:endParaRPr lang="en-IN" sz="40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9653261-BBEB-ACB4-E536-DBF4AD0F6CFD}"/>
              </a:ext>
            </a:extLst>
          </p:cNvPr>
          <p:cNvSpPr txBox="1">
            <a:spLocks/>
          </p:cNvSpPr>
          <p:nvPr/>
        </p:nvSpPr>
        <p:spPr>
          <a:xfrm>
            <a:off x="401320" y="1298098"/>
            <a:ext cx="10515600" cy="248142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Successfully classified tweets into four sentiment categories: Positive, Negative, Neutral, and Irrelevant.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Applied text preprocessing and TF-IDF for feature extraction.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Compared two machine-learning models.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Logistic Regression achieved the highest validation accuracy of </a:t>
            </a:r>
            <a:r>
              <a:rPr lang="en-IN" sz="2400" b="1" dirty="0"/>
              <a:t>86.5%</a:t>
            </a:r>
            <a:r>
              <a:rPr lang="en-IN" sz="2400" dirty="0"/>
              <a:t>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Sentiment analysis can help businesses understand customer feedback and public opinion.</a:t>
            </a:r>
          </a:p>
        </p:txBody>
      </p:sp>
    </p:spTree>
    <p:extLst>
      <p:ext uri="{BB962C8B-B14F-4D97-AF65-F5344CB8AC3E}">
        <p14:creationId xmlns:p14="http://schemas.microsoft.com/office/powerpoint/2010/main" val="14783802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Yellow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FFCA08"/>
      </a:accent1>
      <a:accent2>
        <a:srgbClr val="F8931D"/>
      </a:accent2>
      <a:accent3>
        <a:srgbClr val="CE8D3E"/>
      </a:accent3>
      <a:accent4>
        <a:srgbClr val="EC7016"/>
      </a:accent4>
      <a:accent5>
        <a:srgbClr val="E64823"/>
      </a:accent5>
      <a:accent6>
        <a:srgbClr val="9C6A6A"/>
      </a:accent6>
      <a:hlink>
        <a:srgbClr val="2998E3"/>
      </a:hlink>
      <a:folHlink>
        <a:srgbClr val="7F723D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71</TotalTime>
  <Words>445</Words>
  <Application>Microsoft Office PowerPoint</Application>
  <PresentationFormat>Widescreen</PresentationFormat>
  <Paragraphs>64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2013 - 2022 Theme</vt:lpstr>
      <vt:lpstr>Twitter Sentiment Analysis Oasis Infobyte — Data Analytics Internship  </vt:lpstr>
      <vt:lpstr>Objective &amp; Dataset </vt:lpstr>
      <vt:lpstr>Data Preprocessing</vt:lpstr>
      <vt:lpstr>Sentiment Distribution &amp; Word Analysis </vt:lpstr>
      <vt:lpstr>Model Performance Two machine-learning models were trained and evaluated.  </vt:lpstr>
      <vt:lpstr>Confusion Matrix &amp; Error Analysis</vt:lpstr>
      <vt:lpstr>  Thank You! Oasis Infobyte — Data Analytics Internship Task 4: Twitter Sentiment Analysis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Nandini D</dc:creator>
  <cp:lastModifiedBy>Nandini D</cp:lastModifiedBy>
  <cp:revision>2</cp:revision>
  <dcterms:created xsi:type="dcterms:W3CDTF">2026-10-23T06:59:26Z</dcterms:created>
  <dcterms:modified xsi:type="dcterms:W3CDTF">2026-10-25T09:45:07Z</dcterms:modified>
</cp:coreProperties>
</file>