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7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23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5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0339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459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1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1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80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34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705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664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745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725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117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457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661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0317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664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7159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626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274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3053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695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36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93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257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474F-8134-44E6-1CB5-DE0069B3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FEE21-817D-E71B-0EB4-EB766E52C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3C3F9-F9D1-076E-B15D-8EC261DD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574F3-FE23-83E5-2537-30A83F01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BF125-055A-B760-71C7-898D6CCC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42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C791-5E74-C351-D334-E1377542B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C02F0-D524-C4B7-15C0-88D285B57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79AFA-29D5-14BF-215E-F16C4D98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EAA45-6835-B279-630B-EC0749C8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99D49-5F61-CDA1-DA9D-15ED2E5B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36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1AEA1FEA-2111-431E-8288-118029B7D5C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5196D16-0359-433E-9024-4DECC8EB6D8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92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D42C-9CD9-E9EB-5491-0A2BC6B63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0673" y="-128337"/>
            <a:ext cx="9144000" cy="3246376"/>
          </a:xfrm>
        </p:spPr>
        <p:txBody>
          <a:bodyPr>
            <a:normAutofit/>
          </a:bodyPr>
          <a:lstStyle/>
          <a:p>
            <a:r>
              <a:rPr lang="en-IN" b="1" dirty="0"/>
              <a:t>Retail Sales Exploratory Data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8E22F-1842-ED49-AD62-0D52F84A1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9621" y="2390442"/>
            <a:ext cx="9801726" cy="418627"/>
          </a:xfrm>
        </p:spPr>
        <p:txBody>
          <a:bodyPr>
            <a:normAutofit/>
          </a:bodyPr>
          <a:lstStyle/>
          <a:p>
            <a:r>
              <a:rPr lang="en-IN" b="1" dirty="0"/>
              <a:t>Oasis </a:t>
            </a:r>
            <a:r>
              <a:rPr lang="en-IN" b="1" dirty="0" err="1"/>
              <a:t>Infobyte</a:t>
            </a:r>
            <a:r>
              <a:rPr lang="en-IN" b="1" dirty="0"/>
              <a:t> — Data Analytics Internship</a:t>
            </a:r>
            <a:endParaRPr lang="en-IN" dirty="0"/>
          </a:p>
          <a:p>
            <a:endParaRPr lang="en-I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0B9B6D6-C683-D66E-B29B-A58E21CBC275}"/>
              </a:ext>
            </a:extLst>
          </p:cNvPr>
          <p:cNvSpPr txBox="1">
            <a:spLocks/>
          </p:cNvSpPr>
          <p:nvPr/>
        </p:nvSpPr>
        <p:spPr>
          <a:xfrm>
            <a:off x="1267326" y="3118039"/>
            <a:ext cx="10170695" cy="621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Intern Name:</a:t>
            </a:r>
            <a:r>
              <a:rPr lang="en-IN" dirty="0"/>
              <a:t> Nandini Dolas</a:t>
            </a:r>
          </a:p>
          <a:p>
            <a:endParaRPr lang="en-IN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861D342-93D3-04EC-93E8-726F9DA9D578}"/>
              </a:ext>
            </a:extLst>
          </p:cNvPr>
          <p:cNvSpPr txBox="1">
            <a:spLocks/>
          </p:cNvSpPr>
          <p:nvPr/>
        </p:nvSpPr>
        <p:spPr>
          <a:xfrm>
            <a:off x="1267326" y="3972211"/>
            <a:ext cx="9657347" cy="439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Task:</a:t>
            </a:r>
            <a:r>
              <a:rPr lang="en-IN" dirty="0"/>
              <a:t> Level 1 — Task 1</a:t>
            </a:r>
          </a:p>
          <a:p>
            <a:endParaRPr lang="en-IN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047C25D-CCDA-BE26-ECF3-19ADCA8AE5B8}"/>
              </a:ext>
            </a:extLst>
          </p:cNvPr>
          <p:cNvSpPr txBox="1">
            <a:spLocks/>
          </p:cNvSpPr>
          <p:nvPr/>
        </p:nvSpPr>
        <p:spPr>
          <a:xfrm>
            <a:off x="1010652" y="4806401"/>
            <a:ext cx="10170695" cy="439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Tools Used:</a:t>
            </a:r>
            <a:r>
              <a:rPr lang="en-IN" dirty="0"/>
              <a:t> Python, Pandas, Matplotlib, Seaborn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45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0216-84E7-5384-566D-A216C215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800"/>
            <a:ext cx="10515600" cy="77386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 Objective &amp; Dataset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462C1-DD18-207D-F056-46430A13B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664"/>
            <a:ext cx="10515600" cy="52000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/>
              <a:t>Objective</a:t>
            </a:r>
            <a:endParaRPr lang="en-IN" sz="1600" dirty="0"/>
          </a:p>
          <a:p>
            <a:pPr lvl="0"/>
            <a:r>
              <a:rPr lang="en-IN" sz="1500" dirty="0" err="1"/>
              <a:t>Analyze</a:t>
            </a:r>
            <a:r>
              <a:rPr lang="en-IN" sz="1500" dirty="0"/>
              <a:t> retail sales data to identify sales trends and customer purchasing patterns.</a:t>
            </a:r>
          </a:p>
          <a:p>
            <a:pPr lvl="0"/>
            <a:r>
              <a:rPr lang="en-IN" sz="1500" dirty="0"/>
              <a:t>Compare revenue across product categories.</a:t>
            </a:r>
          </a:p>
          <a:p>
            <a:pPr lvl="0"/>
            <a:r>
              <a:rPr lang="en-IN" sz="1500" dirty="0"/>
              <a:t>Generate insights to support business decisions.</a:t>
            </a:r>
          </a:p>
          <a:p>
            <a:pPr marL="0" lv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600" b="1" dirty="0"/>
              <a:t>Dataset Overview</a:t>
            </a:r>
            <a:endParaRPr lang="en-IN" sz="1600" dirty="0"/>
          </a:p>
          <a:p>
            <a:pPr lvl="0"/>
            <a:r>
              <a:rPr lang="en-IN" sz="1500" b="1" dirty="0"/>
              <a:t>Dataset:</a:t>
            </a:r>
            <a:r>
              <a:rPr lang="en-IN" sz="1500" dirty="0"/>
              <a:t> retail_sales_dataset.csv</a:t>
            </a:r>
          </a:p>
          <a:p>
            <a:pPr lvl="0"/>
            <a:r>
              <a:rPr lang="en-IN" sz="1500" b="1" dirty="0"/>
              <a:t>Total Records:</a:t>
            </a:r>
            <a:r>
              <a:rPr lang="en-IN" sz="1500" dirty="0"/>
              <a:t> 1,000 transactions</a:t>
            </a:r>
          </a:p>
          <a:p>
            <a:pPr lvl="0"/>
            <a:r>
              <a:rPr lang="en-IN" sz="1500" b="1" dirty="0"/>
              <a:t>Total Columns:</a:t>
            </a:r>
            <a:r>
              <a:rPr lang="en-IN" sz="1500" dirty="0"/>
              <a:t> 9</a:t>
            </a:r>
          </a:p>
          <a:p>
            <a:pPr lvl="0"/>
            <a:r>
              <a:rPr lang="en-IN" sz="1500" b="1" dirty="0"/>
              <a:t>Tools Used:</a:t>
            </a:r>
            <a:r>
              <a:rPr lang="en-IN" sz="1500" dirty="0"/>
              <a:t> Python, Pandas, Matplotlib, Seaborn</a:t>
            </a:r>
          </a:p>
          <a:p>
            <a:pPr marL="0" lv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600" b="1" dirty="0"/>
              <a:t>Analysis Performed</a:t>
            </a:r>
            <a:endParaRPr lang="en-IN" sz="1600" dirty="0"/>
          </a:p>
          <a:p>
            <a:pPr lvl="0"/>
            <a:r>
              <a:rPr lang="en-IN" sz="1500" dirty="0"/>
              <a:t>Data cleaning and exploration</a:t>
            </a:r>
          </a:p>
          <a:p>
            <a:pPr lvl="0"/>
            <a:r>
              <a:rPr lang="en-IN" sz="1500" dirty="0"/>
              <a:t>Monthly and quarterly sales analysis</a:t>
            </a:r>
          </a:p>
          <a:p>
            <a:pPr lvl="0"/>
            <a:r>
              <a:rPr lang="en-IN" sz="1500" dirty="0"/>
              <a:t>Customer demographics analysis</a:t>
            </a:r>
          </a:p>
          <a:p>
            <a:pPr lvl="0"/>
            <a:r>
              <a:rPr lang="en-IN" sz="1500" dirty="0"/>
              <a:t>Product category revenue comparison</a:t>
            </a:r>
          </a:p>
          <a:p>
            <a:pPr lvl="0"/>
            <a:r>
              <a:rPr lang="en-IN" sz="1500" dirty="0"/>
              <a:t>Correlation analysis</a:t>
            </a:r>
          </a:p>
          <a:p>
            <a:pPr marL="0" lvl="0" indent="0">
              <a:buNone/>
            </a:pPr>
            <a:endParaRPr lang="en-IN" sz="1600" dirty="0"/>
          </a:p>
          <a:p>
            <a:pPr marL="0" lv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45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B784-60B5-32ED-A867-7C0E649D5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67" y="312404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 Analysis &amp;</a:t>
            </a:r>
            <a:br>
              <a:rPr lang="en-IN" b="1" dirty="0"/>
            </a:br>
            <a:r>
              <a:rPr lang="en-IN" b="1" dirty="0"/>
              <a:t> Visualizations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DCBE-2F94-98C6-38AC-E3A2442BD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567" y="1777603"/>
            <a:ext cx="5081337" cy="3658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700" b="1" dirty="0"/>
              <a:t>1. Sales Trends</a:t>
            </a:r>
            <a:endParaRPr lang="en-IN" sz="1700" dirty="0"/>
          </a:p>
          <a:p>
            <a:pPr lvl="0"/>
            <a:r>
              <a:rPr lang="en-IN" sz="1400" dirty="0" err="1"/>
              <a:t>Analyzed</a:t>
            </a:r>
            <a:r>
              <a:rPr lang="en-IN" sz="1400" dirty="0"/>
              <a:t> monthly and quarterly sales.</a:t>
            </a:r>
          </a:p>
          <a:p>
            <a:pPr lvl="0"/>
            <a:r>
              <a:rPr lang="en-IN" sz="1400" dirty="0"/>
              <a:t>Identified periods with higher and lower sales.</a:t>
            </a:r>
          </a:p>
          <a:p>
            <a:pPr lvl="0"/>
            <a:endParaRPr lang="en-IN" sz="1400" dirty="0"/>
          </a:p>
          <a:p>
            <a:pPr marL="0" indent="0">
              <a:buNone/>
            </a:pPr>
            <a:r>
              <a:rPr lang="en-IN" sz="1600" b="1" dirty="0"/>
              <a:t>2. Customer Analysis</a:t>
            </a:r>
            <a:endParaRPr lang="en-IN" sz="1600" dirty="0"/>
          </a:p>
          <a:p>
            <a:pPr lvl="0"/>
            <a:r>
              <a:rPr lang="en-IN" sz="1400" dirty="0"/>
              <a:t>Compared transactions by gender.</a:t>
            </a:r>
          </a:p>
          <a:p>
            <a:pPr lvl="0"/>
            <a:r>
              <a:rPr lang="en-IN" sz="1400" dirty="0"/>
              <a:t>Explored customer age patterns.</a:t>
            </a:r>
          </a:p>
          <a:p>
            <a:pPr marL="0" lvl="0" indent="0">
              <a:buNone/>
            </a:pPr>
            <a:endParaRPr lang="en-IN" sz="1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5C00A-1D18-20C3-4F72-7655FA203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109" y="501445"/>
            <a:ext cx="6243135" cy="2476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AB7461-B9D8-1801-916F-D7220DB49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471" y="3429000"/>
            <a:ext cx="4577696" cy="311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76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A9F77-1A4D-0420-F018-4959C397B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03" y="0"/>
            <a:ext cx="4815349" cy="5732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3. Product Category Analysis</a:t>
            </a:r>
            <a:endParaRPr lang="en-IN" sz="1600" dirty="0"/>
          </a:p>
          <a:p>
            <a:pPr lvl="0"/>
            <a:r>
              <a:rPr lang="en-IN" sz="1500" dirty="0"/>
              <a:t>Compared revenue from Electronics, Clothing, and Beauty.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700" b="1" dirty="0"/>
              <a:t>4. Statistical Analysis</a:t>
            </a:r>
            <a:endParaRPr lang="en-IN" sz="1700" dirty="0"/>
          </a:p>
          <a:p>
            <a:pPr lvl="0"/>
            <a:r>
              <a:rPr lang="en-IN" sz="1600" dirty="0"/>
              <a:t>Examined relationships between price, quantity, age, and total</a:t>
            </a:r>
          </a:p>
          <a:p>
            <a:pPr marL="0" lvl="0" indent="0">
              <a:buNone/>
            </a:pPr>
            <a:r>
              <a:rPr lang="en-IN" sz="1600" dirty="0"/>
              <a:t> amount.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1700" b="1" dirty="0"/>
              <a:t>Visualizations Created</a:t>
            </a:r>
            <a:endParaRPr lang="en-IN" sz="1700" dirty="0"/>
          </a:p>
          <a:p>
            <a:pPr lvl="0"/>
            <a:r>
              <a:rPr lang="en-IN" sz="1500" dirty="0"/>
              <a:t>Monthly and quarterly sales charts</a:t>
            </a:r>
          </a:p>
          <a:p>
            <a:pPr lvl="0"/>
            <a:r>
              <a:rPr lang="en-IN" sz="1500" dirty="0"/>
              <a:t>Gender and age analysis</a:t>
            </a:r>
          </a:p>
          <a:p>
            <a:pPr lvl="0"/>
            <a:r>
              <a:rPr lang="en-IN" sz="1500" dirty="0"/>
              <a:t>Category revenue chart</a:t>
            </a:r>
          </a:p>
          <a:p>
            <a:pPr lvl="0"/>
            <a:r>
              <a:rPr lang="en-IN" sz="1500" dirty="0"/>
              <a:t>Correlation heatmap</a:t>
            </a:r>
          </a:p>
          <a:p>
            <a:pPr lvl="0"/>
            <a:r>
              <a:rPr lang="en-IN" sz="1500" dirty="0"/>
              <a:t>Transaction amount histogram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DB949-605C-1A67-D139-D8A7F2AB4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88" y="3429000"/>
            <a:ext cx="5861009" cy="3129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B8D15-08A3-6E09-CBAC-BE585CA02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24" y="79433"/>
            <a:ext cx="4329635" cy="323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3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06C4-1895-BB8D-99CD-E276080A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63" y="418521"/>
            <a:ext cx="12001592" cy="108835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Key Findings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57851-65F3-1522-2707-4976F6D0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404143"/>
          </a:xfrm>
        </p:spPr>
        <p:txBody>
          <a:bodyPr>
            <a:normAutofit/>
          </a:bodyPr>
          <a:lstStyle/>
          <a:p>
            <a:r>
              <a:rPr lang="en-IN" sz="1800" b="1" dirty="0"/>
              <a:t>Sales Trends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N" sz="1800" dirty="0"/>
              <a:t>Highest Monthly Sales:- May 2023 - </a:t>
            </a:r>
            <a:r>
              <a:rPr lang="en-IN" sz="1800" b="1" u="sng" dirty="0"/>
              <a:t>53150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N" sz="1800" dirty="0"/>
              <a:t>Highest Quarterly Sales:-  2023Q4  - </a:t>
            </a:r>
            <a:r>
              <a:rPr lang="en-IN" sz="1800" b="1" u="sng" dirty="0"/>
              <a:t>126190</a:t>
            </a:r>
          </a:p>
          <a:p>
            <a:r>
              <a:rPr lang="en-IN" sz="1800" b="1" dirty="0"/>
              <a:t>Customer Insights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IN" sz="1800" dirty="0"/>
              <a:t>Female - </a:t>
            </a:r>
            <a:r>
              <a:rPr lang="en-IN" sz="1800" b="1" u="sng" dirty="0"/>
              <a:t>510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IN" sz="1800" dirty="0"/>
              <a:t>Male -  </a:t>
            </a:r>
            <a:r>
              <a:rPr lang="en-IN" sz="1800" b="1" u="sng" dirty="0"/>
              <a:t>490</a:t>
            </a:r>
            <a:endParaRPr lang="en-IN" sz="1800" u="sng" dirty="0"/>
          </a:p>
          <a:p>
            <a:r>
              <a:rPr lang="en-IN" sz="1800" b="1" dirty="0"/>
              <a:t>Category Revenue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800" dirty="0"/>
              <a:t>Electronics - </a:t>
            </a:r>
            <a:r>
              <a:rPr lang="en-US" sz="1800" b="1" u="sng" dirty="0"/>
              <a:t>156905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800" dirty="0"/>
              <a:t>Clothing - </a:t>
            </a:r>
            <a:r>
              <a:rPr lang="en-US" sz="1800" b="1" u="sng" dirty="0"/>
              <a:t>155580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1800" dirty="0"/>
              <a:t>Beauty - </a:t>
            </a:r>
            <a:r>
              <a:rPr lang="en-US" sz="1800" b="1" u="sng" dirty="0"/>
              <a:t>143515</a:t>
            </a:r>
            <a:endParaRPr lang="en-IN" sz="1800" b="1" u="sng" dirty="0"/>
          </a:p>
          <a:p>
            <a:r>
              <a:rPr lang="en-IN" sz="1800" b="1" dirty="0"/>
              <a:t>Key Statistical Insights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IN" sz="1800" dirty="0"/>
              <a:t>Average Transaction amount: </a:t>
            </a:r>
            <a:r>
              <a:rPr lang="en-IN" sz="1800" b="1" dirty="0"/>
              <a:t>₹456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IN" sz="1800" dirty="0"/>
              <a:t>Price pre Unit and total amount correlation:</a:t>
            </a:r>
            <a:r>
              <a:rPr lang="en-IN" sz="1800" b="1" dirty="0"/>
              <a:t>0.85</a:t>
            </a:r>
          </a:p>
          <a:p>
            <a:r>
              <a:rPr lang="en-IN" sz="1800" b="1" dirty="0"/>
              <a:t>Overall Insight:</a:t>
            </a:r>
            <a:r>
              <a:rPr lang="en-IN" sz="1800" dirty="0"/>
              <a:t> Electronics generated the highest revenue, while sales trends and customer purchasing patterns can help guide business decisions.</a:t>
            </a:r>
          </a:p>
          <a:p>
            <a:endParaRPr lang="en-IN" dirty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0865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A03D-1B06-36A0-3F56-624AC06A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570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Conclusion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1553-2D65-9AF8-7451-0C67203B2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855"/>
            <a:ext cx="10515600" cy="212945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Performed the analysis of 1,000 transactions in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Found out monthly and quarterly sales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Compared customer demographics and revenues of various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Made use of visual data for deriving insights about business.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Conclusion: </a:t>
            </a:r>
            <a:r>
              <a:rPr lang="en-US" sz="1600" dirty="0"/>
              <a:t>Insights obtained from analysis will be helpful in making good sales, inventory, and marketing decisions.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310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9DBA-6477-C7C7-E8C4-D8F979C5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2829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THANK YOU!</a:t>
            </a:r>
            <a:br>
              <a:rPr lang="en-US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A9C46-5FCF-108E-99E4-E9A0FA0B7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9754"/>
            <a:ext cx="10515600" cy="16646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b="1"/>
              <a:t>Retail Sales Exploratory Data Analysis</a:t>
            </a:r>
            <a:endParaRPr lang="en-IN" sz="4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5394CE-6A1F-C86E-02F6-5091F53015B8}"/>
              </a:ext>
            </a:extLst>
          </p:cNvPr>
          <p:cNvSpPr txBox="1">
            <a:spLocks/>
          </p:cNvSpPr>
          <p:nvPr/>
        </p:nvSpPr>
        <p:spPr>
          <a:xfrm>
            <a:off x="838200" y="5432058"/>
            <a:ext cx="10515600" cy="683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/>
              <a:t>Oasis Infobyte — Data Analytics Internship</a:t>
            </a:r>
            <a:endParaRPr lang="en-IN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145612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23</TotalTime>
  <Words>359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Axis</vt:lpstr>
      <vt:lpstr>Retail Sales Exploratory Data Analysis </vt:lpstr>
      <vt:lpstr>Project Objective &amp; Dataset </vt:lpstr>
      <vt:lpstr>Data Analysis &amp;  Visualizations </vt:lpstr>
      <vt:lpstr>PowerPoint Presentation</vt:lpstr>
      <vt:lpstr>Key Findings </vt:lpstr>
      <vt:lpstr>Conclusion 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D</dc:creator>
  <cp:lastModifiedBy>Nandini D</cp:lastModifiedBy>
  <cp:revision>2</cp:revision>
  <dcterms:created xsi:type="dcterms:W3CDTF">2026-10-20T11:49:02Z</dcterms:created>
  <dcterms:modified xsi:type="dcterms:W3CDTF">2026-10-21T08:55:21Z</dcterms:modified>
</cp:coreProperties>
</file>